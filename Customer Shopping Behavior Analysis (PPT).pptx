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embeddedFontLst>
    <p:embeddedFont>
      <p:font typeface="Inter" panose="020B0604020202020204" charset="0"/>
      <p:regular r:id="rId17"/>
      <p:bold r:id="rId18"/>
      <p:italic r:id="rId19"/>
      <p:boldItalic r:id="rId20"/>
    </p:embeddedFont>
    <p:embeddedFont>
      <p:font typeface="Inter SemiBold" panose="020B0604020202020204" charset="0"/>
      <p:regular r:id="rId21"/>
      <p:bold r:id="rId22"/>
      <p:italic r:id="rId23"/>
      <p:boldItalic r:id="rId24"/>
    </p:embeddedFont>
    <p:embeddedFont>
      <p:font typeface="Urbanist" panose="020B0604020202020204" charset="0"/>
      <p:regular r:id="rId25"/>
      <p:bold r:id="rId26"/>
      <p:italic r:id="rId27"/>
      <p:boldItalic r:id="rId28"/>
    </p:embeddedFont>
    <p:embeddedFont>
      <p:font typeface="Urbanist ExtraBold" panose="020B0604020202020204" charset="0"/>
      <p:bold r:id="rId29"/>
      <p:boldItalic r:id="rId30"/>
    </p:embeddedFont>
    <p:embeddedFont>
      <p:font typeface="Urbanist SemiBold" panose="020B0604020202020204" charset="0"/>
      <p:regular r:id="rId31"/>
      <p:bold r:id="rId32"/>
      <p:italic r:id="rId33"/>
      <p:boldItalic r:id="rId3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D15831F-ADB0-43A4-9BFC-B3FDBDA54C6B}">
  <a:tblStyle styleId="{ED15831F-ADB0-43A4-9BFC-B3FDBDA54C6B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21" Type="http://schemas.openxmlformats.org/officeDocument/2006/relationships/font" Target="fonts/font5.fntdata"/><Relationship Id="rId34" Type="http://schemas.openxmlformats.org/officeDocument/2006/relationships/font" Target="fonts/font1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33" Type="http://schemas.openxmlformats.org/officeDocument/2006/relationships/font" Target="fonts/font17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font" Target="fonts/font1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32" Type="http://schemas.openxmlformats.org/officeDocument/2006/relationships/font" Target="fonts/font16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font" Target="fonts/font12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31" Type="http://schemas.openxmlformats.org/officeDocument/2006/relationships/font" Target="fonts/font1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font" Target="fonts/font14.fntdata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" name="Google Shape;28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" name="Google Shape;296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5" name="Google Shape;315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6" name="Google Shape;326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1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95275" y="1933723"/>
            <a:ext cx="11601450" cy="17600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3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Customer Shopping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6300" b="1" i="0" u="none" strike="noStrike" cap="none">
                <a:solidFill>
                  <a:srgbClr val="22D3EE"/>
                </a:solidFill>
                <a:latin typeface="Urbanist"/>
                <a:ea typeface="Urbanist"/>
                <a:cs typeface="Urbanist"/>
                <a:sym typeface="Urbanist"/>
              </a:rPr>
              <a:t>Behavior Analysis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571500" y="3884265"/>
            <a:ext cx="8572500" cy="79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An End-to-End Full Stack Data Analytics Project leveraging Python, MySQL, and Power BI to optimize retail strategy.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4257675" y="6286500"/>
            <a:ext cx="367665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22D3EE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DATA ANALYTICS PORTFOLIO 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280344"/>
            <a:ext cx="3492549" cy="3514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2280344"/>
            <a:ext cx="3492549" cy="3514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2280344"/>
            <a:ext cx="3492549" cy="3514725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894237" y="3480494"/>
            <a:ext cx="2847074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E2E8F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Scale &amp; Volume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962025" y="3994844"/>
            <a:ext cx="2711499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Analysis of 3,900 unique customer transactions across 18 descriptive features.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4672537" y="3480494"/>
            <a:ext cx="2847074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E2E8F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Primary Objective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4740324" y="3994844"/>
            <a:ext cx="2711499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Uncover spending patterns and demographic preferences to drive growth.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8450836" y="3480494"/>
            <a:ext cx="2847074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E2E8F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Core Metrics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8518624" y="3994844"/>
            <a:ext cx="2711499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LTV analysis, Subscription conversion, and Segment-specific revenue targets.</a:t>
            </a:r>
            <a:endParaRPr/>
          </a:p>
        </p:txBody>
      </p:sp>
      <p:pic>
        <p:nvPicPr>
          <p:cNvPr id="102" name="Google Shape;102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108150" y="2708969"/>
            <a:ext cx="4191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57875" y="2708969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636174" y="2708969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762000" y="950862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22D3EE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EXECUTIVE PROJECT OVERVIEW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571500" y="950862"/>
            <a:ext cx="76200" cy="55245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513832"/>
            <a:ext cx="3314700" cy="2000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38650" y="3513832"/>
            <a:ext cx="3314700" cy="2000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05800" y="3513832"/>
            <a:ext cx="3314700" cy="200025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5"/>
          <p:cNvSpPr/>
          <p:nvPr/>
        </p:nvSpPr>
        <p:spPr>
          <a:xfrm>
            <a:off x="571500" y="4018657"/>
            <a:ext cx="11049000" cy="381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5"/>
          <p:cNvSpPr txBox="1"/>
          <p:nvPr/>
        </p:nvSpPr>
        <p:spPr>
          <a:xfrm>
            <a:off x="688657" y="3704332"/>
            <a:ext cx="308038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E2E8F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Python (ETL)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762000" y="4218682"/>
            <a:ext cx="29337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Cleaning, Handling Missing Values, and Feature Engineering using Pandas.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4555807" y="3704332"/>
            <a:ext cx="308038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E2E8F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MySQL (BI)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4629150" y="4218682"/>
            <a:ext cx="29337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Complex queries for Customer Segmentation and Category-wise performance.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8422957" y="3704332"/>
            <a:ext cx="308038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E2E8F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Power BI (UI)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8496300" y="4218682"/>
            <a:ext cx="29337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Real-time interactive dashboarding for C-suite strategic visualization.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762000" y="950862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22D3EE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FULL-STACK DATA ARCHITECTURE</a:t>
            </a:r>
            <a:endParaRPr/>
          </a:p>
        </p:txBody>
      </p:sp>
      <p:sp>
        <p:nvSpPr>
          <p:cNvPr id="123" name="Google Shape;123;p15"/>
          <p:cNvSpPr/>
          <p:nvPr/>
        </p:nvSpPr>
        <p:spPr>
          <a:xfrm>
            <a:off x="571500" y="950862"/>
            <a:ext cx="76200" cy="55245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5"/>
          <p:cNvSpPr/>
          <p:nvPr/>
        </p:nvSpPr>
        <p:spPr>
          <a:xfrm>
            <a:off x="2085975" y="3142357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 w="57150" cap="flat" cmpd="sng">
            <a:solidFill>
              <a:srgbClr val="02061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5"/>
          <p:cNvSpPr/>
          <p:nvPr/>
        </p:nvSpPr>
        <p:spPr>
          <a:xfrm>
            <a:off x="5953125" y="3142357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 w="57150" cap="flat" cmpd="sng">
            <a:solidFill>
              <a:srgbClr val="02061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5"/>
          <p:cNvSpPr/>
          <p:nvPr/>
        </p:nvSpPr>
        <p:spPr>
          <a:xfrm>
            <a:off x="9820275" y="3142357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 w="57150" cap="flat" cmpd="sng">
            <a:solidFill>
              <a:srgbClr val="02061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2132707"/>
            <a:ext cx="533400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05550" y="2151757"/>
            <a:ext cx="5295900" cy="37719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6"/>
          <p:cNvSpPr txBox="1"/>
          <p:nvPr/>
        </p:nvSpPr>
        <p:spPr>
          <a:xfrm>
            <a:off x="571500" y="2842319"/>
            <a:ext cx="5334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33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Missing Data: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Imputed Review Ratings using Category Medians.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571500" y="3690044"/>
            <a:ext cx="5334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33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Standardization: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Applied snake_case naming for robust database integration.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571500" y="4537769"/>
            <a:ext cx="5334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33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Binning: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Created custom age groups for nuanced demographic analysis.</a:t>
            </a:r>
            <a:endParaRPr/>
          </a:p>
        </p:txBody>
      </p:sp>
      <p:pic>
        <p:nvPicPr>
          <p:cNvPr id="137" name="Google Shape;137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289470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74243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590157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6"/>
          <p:cNvSpPr txBox="1"/>
          <p:nvPr/>
        </p:nvSpPr>
        <p:spPr>
          <a:xfrm>
            <a:off x="762000" y="950862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22D3EE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PHASE 1: PYTHON PREPROCESSING</a:t>
            </a:r>
            <a:endParaRPr/>
          </a:p>
        </p:txBody>
      </p:sp>
      <p:sp>
        <p:nvSpPr>
          <p:cNvPr id="141" name="Google Shape;141;p16"/>
          <p:cNvSpPr/>
          <p:nvPr/>
        </p:nvSpPr>
        <p:spPr>
          <a:xfrm>
            <a:off x="571500" y="950862"/>
            <a:ext cx="76200" cy="55245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894582"/>
            <a:ext cx="5334000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90550" y="1913632"/>
            <a:ext cx="5295900" cy="424815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7"/>
          <p:cNvSpPr txBox="1"/>
          <p:nvPr/>
        </p:nvSpPr>
        <p:spPr>
          <a:xfrm>
            <a:off x="6286500" y="2694682"/>
            <a:ext cx="56007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E2E8F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Strategic MySQL Queries</a:t>
            </a:r>
            <a:endParaRPr/>
          </a:p>
        </p:txBody>
      </p:sp>
      <p:sp>
        <p:nvSpPr>
          <p:cNvPr id="150" name="Google Shape;150;p17"/>
          <p:cNvSpPr txBox="1"/>
          <p:nvPr/>
        </p:nvSpPr>
        <p:spPr>
          <a:xfrm>
            <a:off x="6286500" y="3209032"/>
            <a:ext cx="5334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Designed structured queries to answer critical profitability questions:</a:t>
            </a:r>
            <a:endParaRPr/>
          </a:p>
        </p:txBody>
      </p:sp>
      <p:sp>
        <p:nvSpPr>
          <p:cNvPr id="151" name="Google Shape;151;p17"/>
          <p:cNvSpPr txBox="1"/>
          <p:nvPr/>
        </p:nvSpPr>
        <p:spPr>
          <a:xfrm>
            <a:off x="6562725" y="4009132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52" name="Google Shape;152;p17"/>
          <p:cNvSpPr txBox="1"/>
          <p:nvPr/>
        </p:nvSpPr>
        <p:spPr>
          <a:xfrm>
            <a:off x="6667500" y="4009132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Revenue contribution by Gender and Age.</a:t>
            </a:r>
            <a:endParaRPr/>
          </a:p>
        </p:txBody>
      </p:sp>
      <p:sp>
        <p:nvSpPr>
          <p:cNvPr id="153" name="Google Shape;153;p17"/>
          <p:cNvSpPr txBox="1"/>
          <p:nvPr/>
        </p:nvSpPr>
        <p:spPr>
          <a:xfrm>
            <a:off x="6562725" y="4313932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54" name="Google Shape;154;p17"/>
          <p:cNvSpPr txBox="1"/>
          <p:nvPr/>
        </p:nvSpPr>
        <p:spPr>
          <a:xfrm>
            <a:off x="6667500" y="4313932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High-spending Discount behaviors.</a:t>
            </a:r>
            <a:endParaRPr/>
          </a:p>
        </p:txBody>
      </p:sp>
      <p:sp>
        <p:nvSpPr>
          <p:cNvPr id="155" name="Google Shape;155;p17"/>
          <p:cNvSpPr txBox="1"/>
          <p:nvPr/>
        </p:nvSpPr>
        <p:spPr>
          <a:xfrm>
            <a:off x="6562725" y="4618732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56" name="Google Shape;156;p17"/>
          <p:cNvSpPr txBox="1"/>
          <p:nvPr/>
        </p:nvSpPr>
        <p:spPr>
          <a:xfrm>
            <a:off x="6667500" y="4618732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Top Products by Rating &amp; Categories.</a:t>
            </a:r>
            <a:endParaRPr/>
          </a:p>
        </p:txBody>
      </p:sp>
      <p:sp>
        <p:nvSpPr>
          <p:cNvPr id="157" name="Google Shape;157;p17"/>
          <p:cNvSpPr txBox="1"/>
          <p:nvPr/>
        </p:nvSpPr>
        <p:spPr>
          <a:xfrm>
            <a:off x="6562725" y="4923532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58" name="Google Shape;158;p17"/>
          <p:cNvSpPr txBox="1"/>
          <p:nvPr/>
        </p:nvSpPr>
        <p:spPr>
          <a:xfrm>
            <a:off x="6667500" y="4923532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Subscription vs Non-Subscription Spend.</a:t>
            </a:r>
            <a:endParaRPr/>
          </a:p>
        </p:txBody>
      </p:sp>
      <p:sp>
        <p:nvSpPr>
          <p:cNvPr id="159" name="Google Shape;159;p17"/>
          <p:cNvSpPr txBox="1"/>
          <p:nvPr/>
        </p:nvSpPr>
        <p:spPr>
          <a:xfrm>
            <a:off x="762000" y="950862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22D3EE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PHASE 2: SQL BUSINESS LOGIC</a:t>
            </a:r>
            <a:endParaRPr/>
          </a:p>
        </p:txBody>
      </p:sp>
      <p:sp>
        <p:nvSpPr>
          <p:cNvPr id="160" name="Google Shape;160;p17"/>
          <p:cNvSpPr/>
          <p:nvPr/>
        </p:nvSpPr>
        <p:spPr>
          <a:xfrm>
            <a:off x="571500" y="950862"/>
            <a:ext cx="76200" cy="55245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809107"/>
            <a:ext cx="11049000" cy="1885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667000" y="2380357"/>
            <a:ext cx="89535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667000" y="2951857"/>
            <a:ext cx="89535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667000" y="2380357"/>
            <a:ext cx="80581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667000" y="2951857"/>
            <a:ext cx="40290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8"/>
          <p:cNvSpPr txBox="1"/>
          <p:nvPr/>
        </p:nvSpPr>
        <p:spPr>
          <a:xfrm>
            <a:off x="904875" y="4094857"/>
            <a:ext cx="10951368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E2E8F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Key Insight</a:t>
            </a:r>
            <a:endParaRPr/>
          </a:p>
        </p:txBody>
      </p:sp>
      <p:sp>
        <p:nvSpPr>
          <p:cNvPr id="172" name="Google Shape;172;p18"/>
          <p:cNvSpPr txBox="1"/>
          <p:nvPr/>
        </p:nvSpPr>
        <p:spPr>
          <a:xfrm>
            <a:off x="904875" y="4609207"/>
            <a:ext cx="104298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Male customers generate ~68% of total revenue. Strategic marketing should focus on increasing the female customer Average Order Value (AOV) to balance the portfolio.</a:t>
            </a:r>
            <a:endParaRPr/>
          </a:p>
        </p:txBody>
      </p:sp>
      <p:sp>
        <p:nvSpPr>
          <p:cNvPr id="173" name="Google Shape;173;p18"/>
          <p:cNvSpPr txBox="1"/>
          <p:nvPr/>
        </p:nvSpPr>
        <p:spPr>
          <a:xfrm>
            <a:off x="571500" y="2475607"/>
            <a:ext cx="19050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Male Customers</a:t>
            </a:r>
            <a:endParaRPr/>
          </a:p>
        </p:txBody>
      </p:sp>
      <p:sp>
        <p:nvSpPr>
          <p:cNvPr id="174" name="Google Shape;174;p18"/>
          <p:cNvSpPr txBox="1"/>
          <p:nvPr/>
        </p:nvSpPr>
        <p:spPr>
          <a:xfrm>
            <a:off x="571500" y="3047107"/>
            <a:ext cx="19050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Female Customers</a:t>
            </a:r>
            <a:endParaRPr/>
          </a:p>
        </p:txBody>
      </p:sp>
      <p:sp>
        <p:nvSpPr>
          <p:cNvPr id="175" name="Google Shape;175;p18"/>
          <p:cNvSpPr txBox="1"/>
          <p:nvPr/>
        </p:nvSpPr>
        <p:spPr>
          <a:xfrm>
            <a:off x="762000" y="950862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22D3EE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REVENUE DISTRIBUTION ANALYSIS</a:t>
            </a:r>
            <a:endParaRPr/>
          </a:p>
        </p:txBody>
      </p:sp>
      <p:sp>
        <p:nvSpPr>
          <p:cNvPr id="176" name="Google Shape;176;p18"/>
          <p:cNvSpPr/>
          <p:nvPr/>
        </p:nvSpPr>
        <p:spPr>
          <a:xfrm>
            <a:off x="571500" y="950862"/>
            <a:ext cx="76200" cy="55245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2156519"/>
            <a:ext cx="5334000" cy="3762375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9"/>
          <p:cNvSpPr txBox="1"/>
          <p:nvPr/>
        </p:nvSpPr>
        <p:spPr>
          <a:xfrm>
            <a:off x="952500" y="3375719"/>
            <a:ext cx="4572000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0" i="0" u="none" strike="noStrike" cap="none">
                <a:solidFill>
                  <a:srgbClr val="22D3EE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2,241</a:t>
            </a:r>
            <a:endParaRPr/>
          </a:p>
        </p:txBody>
      </p:sp>
      <p:sp>
        <p:nvSpPr>
          <p:cNvPr id="184" name="Google Shape;184;p19"/>
          <p:cNvSpPr txBox="1"/>
          <p:nvPr/>
        </p:nvSpPr>
        <p:spPr>
          <a:xfrm>
            <a:off x="952500" y="4423469"/>
            <a:ext cx="45720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Loyal Customers (&gt;10 Purchases)</a:t>
            </a:r>
            <a:endParaRPr/>
          </a:p>
        </p:txBody>
      </p:sp>
      <p:sp>
        <p:nvSpPr>
          <p:cNvPr id="185" name="Google Shape;185;p19"/>
          <p:cNvSpPr txBox="1"/>
          <p:nvPr/>
        </p:nvSpPr>
        <p:spPr>
          <a:xfrm>
            <a:off x="6667500" y="2537519"/>
            <a:ext cx="48006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E2E8F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Customer Maturity Mix</a:t>
            </a:r>
            <a:endParaRPr/>
          </a:p>
        </p:txBody>
      </p:sp>
      <p:sp>
        <p:nvSpPr>
          <p:cNvPr id="186" name="Google Shape;186;p19"/>
          <p:cNvSpPr txBox="1"/>
          <p:nvPr/>
        </p:nvSpPr>
        <p:spPr>
          <a:xfrm>
            <a:off x="6667500" y="3051869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Loyal Segment: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57% - High Retention Rate.</a:t>
            </a:r>
            <a:endParaRPr/>
          </a:p>
        </p:txBody>
      </p:sp>
      <p:sp>
        <p:nvSpPr>
          <p:cNvPr id="187" name="Google Shape;187;p19"/>
          <p:cNvSpPr txBox="1"/>
          <p:nvPr/>
        </p:nvSpPr>
        <p:spPr>
          <a:xfrm>
            <a:off x="6667500" y="3547169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Returning Segment: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18% - Growth Potential.</a:t>
            </a:r>
            <a:endParaRPr/>
          </a:p>
        </p:txBody>
      </p:sp>
      <p:sp>
        <p:nvSpPr>
          <p:cNvPr id="188" name="Google Shape;188;p19"/>
          <p:cNvSpPr txBox="1"/>
          <p:nvPr/>
        </p:nvSpPr>
        <p:spPr>
          <a:xfrm>
            <a:off x="6667500" y="4042469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New Segment: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25% - Acquisition Focus.</a:t>
            </a:r>
            <a:endParaRPr/>
          </a:p>
        </p:txBody>
      </p:sp>
      <p:sp>
        <p:nvSpPr>
          <p:cNvPr id="189" name="Google Shape;189;p19"/>
          <p:cNvSpPr/>
          <p:nvPr/>
        </p:nvSpPr>
        <p:spPr>
          <a:xfrm>
            <a:off x="6667500" y="4537769"/>
            <a:ext cx="4572000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9"/>
          <p:cNvSpPr txBox="1"/>
          <p:nvPr/>
        </p:nvSpPr>
        <p:spPr>
          <a:xfrm>
            <a:off x="6667500" y="4737794"/>
            <a:ext cx="4572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1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Strategy: Transition 'Returning' customers to 'Loyal' through targeted loyalty rewards.</a:t>
            </a:r>
            <a:endParaRPr/>
          </a:p>
        </p:txBody>
      </p:sp>
      <p:sp>
        <p:nvSpPr>
          <p:cNvPr id="191" name="Google Shape;191;p19"/>
          <p:cNvSpPr txBox="1"/>
          <p:nvPr/>
        </p:nvSpPr>
        <p:spPr>
          <a:xfrm>
            <a:off x="762000" y="950862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22D3EE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BEHAVIORAL SEGMENTATION</a:t>
            </a:r>
            <a:endParaRPr/>
          </a:p>
        </p:txBody>
      </p:sp>
      <p:sp>
        <p:nvSpPr>
          <p:cNvPr id="192" name="Google Shape;192;p19"/>
          <p:cNvSpPr/>
          <p:nvPr/>
        </p:nvSpPr>
        <p:spPr>
          <a:xfrm>
            <a:off x="571500" y="950862"/>
            <a:ext cx="76200" cy="55245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Google Shape;197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937444"/>
            <a:ext cx="5372100" cy="3114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29350" y="1937444"/>
            <a:ext cx="5391150" cy="3114675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0"/>
          <p:cNvSpPr txBox="1"/>
          <p:nvPr/>
        </p:nvSpPr>
        <p:spPr>
          <a:xfrm>
            <a:off x="571500" y="5337869"/>
            <a:ext cx="11049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Despite higher total volume from non-subscribers, the subscription model provides </a:t>
            </a: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predictable cash flow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and </a:t>
            </a: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higher frequency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201" name="Google Shape;201;p20"/>
          <p:cNvSpPr txBox="1"/>
          <p:nvPr/>
        </p:nvSpPr>
        <p:spPr>
          <a:xfrm>
            <a:off x="847248" y="2327969"/>
            <a:ext cx="4820602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E2E8F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Non-Subscribers</a:t>
            </a:r>
            <a:endParaRPr/>
          </a:p>
        </p:txBody>
      </p:sp>
      <p:sp>
        <p:nvSpPr>
          <p:cNvPr id="202" name="Google Shape;202;p20"/>
          <p:cNvSpPr txBox="1"/>
          <p:nvPr/>
        </p:nvSpPr>
        <p:spPr>
          <a:xfrm>
            <a:off x="962025" y="2794694"/>
            <a:ext cx="4591050" cy="66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50" b="0" i="0" u="none" strike="noStrike" cap="none">
                <a:solidFill>
                  <a:srgbClr val="22D3EE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$59.87</a:t>
            </a:r>
            <a:endParaRPr/>
          </a:p>
        </p:txBody>
      </p:sp>
      <p:sp>
        <p:nvSpPr>
          <p:cNvPr id="203" name="Google Shape;203;p20"/>
          <p:cNvSpPr txBox="1"/>
          <p:nvPr/>
        </p:nvSpPr>
        <p:spPr>
          <a:xfrm>
            <a:off x="962025" y="3651944"/>
            <a:ext cx="45910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Avg. Purchase Amount</a:t>
            </a:r>
            <a:endParaRPr/>
          </a:p>
        </p:txBody>
      </p:sp>
      <p:sp>
        <p:nvSpPr>
          <p:cNvPr id="204" name="Google Shape;204;p20"/>
          <p:cNvSpPr txBox="1"/>
          <p:nvPr/>
        </p:nvSpPr>
        <p:spPr>
          <a:xfrm>
            <a:off x="962025" y="4147244"/>
            <a:ext cx="45910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22D3EE"/>
                </a:solidFill>
                <a:latin typeface="Inter"/>
                <a:ea typeface="Inter"/>
                <a:cs typeface="Inter"/>
                <a:sym typeface="Inter"/>
              </a:rPr>
              <a:t>$170,436 Total Revenue</a:t>
            </a:r>
            <a:endParaRPr/>
          </a:p>
        </p:txBody>
      </p:sp>
      <p:sp>
        <p:nvSpPr>
          <p:cNvPr id="205" name="Google Shape;205;p20"/>
          <p:cNvSpPr txBox="1"/>
          <p:nvPr/>
        </p:nvSpPr>
        <p:spPr>
          <a:xfrm>
            <a:off x="6514623" y="2337494"/>
            <a:ext cx="4820602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E2E8F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Subscribers</a:t>
            </a:r>
            <a:endParaRPr/>
          </a:p>
        </p:txBody>
      </p:sp>
      <p:sp>
        <p:nvSpPr>
          <p:cNvPr id="206" name="Google Shape;206;p20"/>
          <p:cNvSpPr txBox="1"/>
          <p:nvPr/>
        </p:nvSpPr>
        <p:spPr>
          <a:xfrm>
            <a:off x="6629400" y="2804219"/>
            <a:ext cx="4591050" cy="66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50" b="0" i="0" u="none" strike="noStrike" cap="none">
                <a:solidFill>
                  <a:srgbClr val="22D3EE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$59.49</a:t>
            </a:r>
            <a:endParaRPr/>
          </a:p>
        </p:txBody>
      </p:sp>
      <p:sp>
        <p:nvSpPr>
          <p:cNvPr id="207" name="Google Shape;207;p20"/>
          <p:cNvSpPr txBox="1"/>
          <p:nvPr/>
        </p:nvSpPr>
        <p:spPr>
          <a:xfrm>
            <a:off x="6629400" y="3661469"/>
            <a:ext cx="45910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Avg. Purchase Amount</a:t>
            </a:r>
            <a:endParaRPr/>
          </a:p>
        </p:txBody>
      </p:sp>
      <p:sp>
        <p:nvSpPr>
          <p:cNvPr id="208" name="Google Shape;208;p20"/>
          <p:cNvSpPr txBox="1"/>
          <p:nvPr/>
        </p:nvSpPr>
        <p:spPr>
          <a:xfrm>
            <a:off x="6629400" y="4156769"/>
            <a:ext cx="45910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A855F7"/>
                </a:solidFill>
                <a:latin typeface="Inter"/>
                <a:ea typeface="Inter"/>
                <a:cs typeface="Inter"/>
                <a:sym typeface="Inter"/>
              </a:rPr>
              <a:t>$62,645 Total Revenue</a:t>
            </a:r>
            <a:endParaRPr/>
          </a:p>
        </p:txBody>
      </p:sp>
      <p:sp>
        <p:nvSpPr>
          <p:cNvPr id="209" name="Google Shape;209;p20"/>
          <p:cNvSpPr txBox="1"/>
          <p:nvPr/>
        </p:nvSpPr>
        <p:spPr>
          <a:xfrm>
            <a:off x="762000" y="950862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22D3EE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THE SUBSCRIPTION PARADOX</a:t>
            </a:r>
            <a:endParaRPr/>
          </a:p>
        </p:txBody>
      </p:sp>
      <p:sp>
        <p:nvSpPr>
          <p:cNvPr id="210" name="Google Shape;210;p20"/>
          <p:cNvSpPr/>
          <p:nvPr/>
        </p:nvSpPr>
        <p:spPr>
          <a:xfrm>
            <a:off x="571500" y="950862"/>
            <a:ext cx="76200" cy="55245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" name="Google Shape;215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16" name="Google Shape;216;p21"/>
          <p:cNvGraphicFramePr/>
          <p:nvPr/>
        </p:nvGraphicFramePr>
        <p:xfrm>
          <a:off x="571500" y="1946969"/>
          <a:ext cx="11049000" cy="4181425"/>
        </p:xfrm>
        <a:graphic>
          <a:graphicData uri="http://schemas.openxmlformats.org/drawingml/2006/table">
            <a:tbl>
              <a:tblPr firstRow="1" bandRow="1">
                <a:noFill/>
                <a:tableStyleId>{ED15831F-ADB0-43A4-9BFC-B3FDBDA54C6B}</a:tableStyleId>
              </a:tblPr>
              <a:tblGrid>
                <a:gridCol w="4374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90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83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96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22D3EE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Top 5 Rated Products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22D3EE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Avg. Rating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22D3EE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Status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6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Gloves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3.86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22D3E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Premium Tier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6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Sandals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3.84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22D3E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Summer Favorite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6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Boots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3.82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22D3E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High Durability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6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Hat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3.80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Steady Performer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6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Skirt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3.79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Steady Performer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17" name="Google Shape;217;p21"/>
          <p:cNvSpPr/>
          <p:nvPr/>
        </p:nvSpPr>
        <p:spPr>
          <a:xfrm>
            <a:off x="571500" y="3280469"/>
            <a:ext cx="4374951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1"/>
          <p:cNvSpPr/>
          <p:nvPr/>
        </p:nvSpPr>
        <p:spPr>
          <a:xfrm>
            <a:off x="571500" y="2699444"/>
            <a:ext cx="4374951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1"/>
          <p:cNvSpPr/>
          <p:nvPr/>
        </p:nvSpPr>
        <p:spPr>
          <a:xfrm>
            <a:off x="571500" y="2699444"/>
            <a:ext cx="9525" cy="59055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1"/>
          <p:cNvSpPr/>
          <p:nvPr/>
        </p:nvSpPr>
        <p:spPr>
          <a:xfrm>
            <a:off x="4946451" y="3280469"/>
            <a:ext cx="2790080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1"/>
          <p:cNvSpPr/>
          <p:nvPr/>
        </p:nvSpPr>
        <p:spPr>
          <a:xfrm>
            <a:off x="4946451" y="2699444"/>
            <a:ext cx="2790080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1"/>
          <p:cNvSpPr/>
          <p:nvPr/>
        </p:nvSpPr>
        <p:spPr>
          <a:xfrm>
            <a:off x="7736532" y="3280469"/>
            <a:ext cx="3883967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1"/>
          <p:cNvSpPr/>
          <p:nvPr/>
        </p:nvSpPr>
        <p:spPr>
          <a:xfrm>
            <a:off x="7736532" y="2699444"/>
            <a:ext cx="3883967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1"/>
          <p:cNvSpPr/>
          <p:nvPr/>
        </p:nvSpPr>
        <p:spPr>
          <a:xfrm>
            <a:off x="11610975" y="2699444"/>
            <a:ext cx="9525" cy="59055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1"/>
          <p:cNvSpPr/>
          <p:nvPr/>
        </p:nvSpPr>
        <p:spPr>
          <a:xfrm>
            <a:off x="571500" y="3966269"/>
            <a:ext cx="4374951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1"/>
          <p:cNvSpPr/>
          <p:nvPr/>
        </p:nvSpPr>
        <p:spPr>
          <a:xfrm>
            <a:off x="571500" y="3385244"/>
            <a:ext cx="4374951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1"/>
          <p:cNvSpPr/>
          <p:nvPr/>
        </p:nvSpPr>
        <p:spPr>
          <a:xfrm>
            <a:off x="571500" y="3385244"/>
            <a:ext cx="9525" cy="59055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1"/>
          <p:cNvSpPr/>
          <p:nvPr/>
        </p:nvSpPr>
        <p:spPr>
          <a:xfrm>
            <a:off x="4946451" y="3966269"/>
            <a:ext cx="2790080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1"/>
          <p:cNvSpPr/>
          <p:nvPr/>
        </p:nvSpPr>
        <p:spPr>
          <a:xfrm>
            <a:off x="4946451" y="3385244"/>
            <a:ext cx="2790080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1"/>
          <p:cNvSpPr/>
          <p:nvPr/>
        </p:nvSpPr>
        <p:spPr>
          <a:xfrm>
            <a:off x="7736532" y="3966269"/>
            <a:ext cx="3883967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1"/>
          <p:cNvSpPr/>
          <p:nvPr/>
        </p:nvSpPr>
        <p:spPr>
          <a:xfrm>
            <a:off x="7736532" y="3385244"/>
            <a:ext cx="3883967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1"/>
          <p:cNvSpPr/>
          <p:nvPr/>
        </p:nvSpPr>
        <p:spPr>
          <a:xfrm>
            <a:off x="11610975" y="3385244"/>
            <a:ext cx="9525" cy="59055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1"/>
          <p:cNvSpPr/>
          <p:nvPr/>
        </p:nvSpPr>
        <p:spPr>
          <a:xfrm>
            <a:off x="571500" y="4652069"/>
            <a:ext cx="4374951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1"/>
          <p:cNvSpPr/>
          <p:nvPr/>
        </p:nvSpPr>
        <p:spPr>
          <a:xfrm>
            <a:off x="571500" y="4071044"/>
            <a:ext cx="4374951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1"/>
          <p:cNvSpPr/>
          <p:nvPr/>
        </p:nvSpPr>
        <p:spPr>
          <a:xfrm>
            <a:off x="571500" y="4071044"/>
            <a:ext cx="9525" cy="59055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1"/>
          <p:cNvSpPr/>
          <p:nvPr/>
        </p:nvSpPr>
        <p:spPr>
          <a:xfrm>
            <a:off x="4946451" y="4652069"/>
            <a:ext cx="2790080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1"/>
          <p:cNvSpPr/>
          <p:nvPr/>
        </p:nvSpPr>
        <p:spPr>
          <a:xfrm>
            <a:off x="4946451" y="4071044"/>
            <a:ext cx="2790080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1"/>
          <p:cNvSpPr/>
          <p:nvPr/>
        </p:nvSpPr>
        <p:spPr>
          <a:xfrm>
            <a:off x="7736532" y="4652069"/>
            <a:ext cx="3883967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1"/>
          <p:cNvSpPr/>
          <p:nvPr/>
        </p:nvSpPr>
        <p:spPr>
          <a:xfrm>
            <a:off x="7736532" y="4071044"/>
            <a:ext cx="3883967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1"/>
          <p:cNvSpPr/>
          <p:nvPr/>
        </p:nvSpPr>
        <p:spPr>
          <a:xfrm>
            <a:off x="11610975" y="4071044"/>
            <a:ext cx="9525" cy="59055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1"/>
          <p:cNvSpPr/>
          <p:nvPr/>
        </p:nvSpPr>
        <p:spPr>
          <a:xfrm>
            <a:off x="571500" y="5337869"/>
            <a:ext cx="4374951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1"/>
          <p:cNvSpPr/>
          <p:nvPr/>
        </p:nvSpPr>
        <p:spPr>
          <a:xfrm>
            <a:off x="571500" y="4756844"/>
            <a:ext cx="4374951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1"/>
          <p:cNvSpPr/>
          <p:nvPr/>
        </p:nvSpPr>
        <p:spPr>
          <a:xfrm>
            <a:off x="571500" y="4756844"/>
            <a:ext cx="9525" cy="59055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1"/>
          <p:cNvSpPr/>
          <p:nvPr/>
        </p:nvSpPr>
        <p:spPr>
          <a:xfrm>
            <a:off x="4946451" y="5337869"/>
            <a:ext cx="2790080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1"/>
          <p:cNvSpPr/>
          <p:nvPr/>
        </p:nvSpPr>
        <p:spPr>
          <a:xfrm>
            <a:off x="4946451" y="4756844"/>
            <a:ext cx="2790080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1"/>
          <p:cNvSpPr/>
          <p:nvPr/>
        </p:nvSpPr>
        <p:spPr>
          <a:xfrm>
            <a:off x="7736532" y="5337869"/>
            <a:ext cx="3883967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1"/>
          <p:cNvSpPr/>
          <p:nvPr/>
        </p:nvSpPr>
        <p:spPr>
          <a:xfrm>
            <a:off x="7736532" y="4756844"/>
            <a:ext cx="3883967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1"/>
          <p:cNvSpPr/>
          <p:nvPr/>
        </p:nvSpPr>
        <p:spPr>
          <a:xfrm>
            <a:off x="11610975" y="4756844"/>
            <a:ext cx="9525" cy="59055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1"/>
          <p:cNvSpPr/>
          <p:nvPr/>
        </p:nvSpPr>
        <p:spPr>
          <a:xfrm>
            <a:off x="571500" y="6023669"/>
            <a:ext cx="4374951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1"/>
          <p:cNvSpPr/>
          <p:nvPr/>
        </p:nvSpPr>
        <p:spPr>
          <a:xfrm>
            <a:off x="571500" y="5442644"/>
            <a:ext cx="4374951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1"/>
          <p:cNvSpPr/>
          <p:nvPr/>
        </p:nvSpPr>
        <p:spPr>
          <a:xfrm>
            <a:off x="571500" y="5442644"/>
            <a:ext cx="9525" cy="59055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1"/>
          <p:cNvSpPr/>
          <p:nvPr/>
        </p:nvSpPr>
        <p:spPr>
          <a:xfrm>
            <a:off x="4946451" y="6023669"/>
            <a:ext cx="2790080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1"/>
          <p:cNvSpPr/>
          <p:nvPr/>
        </p:nvSpPr>
        <p:spPr>
          <a:xfrm>
            <a:off x="4946451" y="5442644"/>
            <a:ext cx="2790080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1"/>
          <p:cNvSpPr/>
          <p:nvPr/>
        </p:nvSpPr>
        <p:spPr>
          <a:xfrm>
            <a:off x="7736532" y="6023669"/>
            <a:ext cx="3883967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1"/>
          <p:cNvSpPr/>
          <p:nvPr/>
        </p:nvSpPr>
        <p:spPr>
          <a:xfrm>
            <a:off x="7736532" y="5442644"/>
            <a:ext cx="3883967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1"/>
          <p:cNvSpPr/>
          <p:nvPr/>
        </p:nvSpPr>
        <p:spPr>
          <a:xfrm>
            <a:off x="11610975" y="5442644"/>
            <a:ext cx="9525" cy="59055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1"/>
          <p:cNvSpPr txBox="1"/>
          <p:nvPr/>
        </p:nvSpPr>
        <p:spPr>
          <a:xfrm>
            <a:off x="762000" y="950862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22D3EE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PRODUCT &amp; CATEGORY LEADERS</a:t>
            </a:r>
            <a:endParaRPr/>
          </a:p>
        </p:txBody>
      </p:sp>
      <p:sp>
        <p:nvSpPr>
          <p:cNvPr id="258" name="Google Shape;258;p21"/>
          <p:cNvSpPr/>
          <p:nvPr/>
        </p:nvSpPr>
        <p:spPr>
          <a:xfrm>
            <a:off x="571500" y="950862"/>
            <a:ext cx="76200" cy="55245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3" name="Google Shape;263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667000" y="2599432"/>
            <a:ext cx="89535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667000" y="3170932"/>
            <a:ext cx="89535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667000" y="3742432"/>
            <a:ext cx="89535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667000" y="4313932"/>
            <a:ext cx="89535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667000" y="2599432"/>
            <a:ext cx="89535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667000" y="3170932"/>
            <a:ext cx="85058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2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667000" y="3742432"/>
            <a:ext cx="80581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22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667000" y="4313932"/>
            <a:ext cx="796855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22"/>
          <p:cNvSpPr txBox="1"/>
          <p:nvPr/>
        </p:nvSpPr>
        <p:spPr>
          <a:xfrm>
            <a:off x="571500" y="4980682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1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Observation: Spending is relatively stable across age groups, indicating a broadly appealing product catalog.</a:t>
            </a:r>
            <a:endParaRPr/>
          </a:p>
        </p:txBody>
      </p:sp>
      <p:sp>
        <p:nvSpPr>
          <p:cNvPr id="273" name="Google Shape;273;p22"/>
          <p:cNvSpPr txBox="1"/>
          <p:nvPr/>
        </p:nvSpPr>
        <p:spPr>
          <a:xfrm>
            <a:off x="571500" y="2694682"/>
            <a:ext cx="19050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Young Adult</a:t>
            </a:r>
            <a:endParaRPr/>
          </a:p>
        </p:txBody>
      </p:sp>
      <p:sp>
        <p:nvSpPr>
          <p:cNvPr id="274" name="Google Shape;274;p22"/>
          <p:cNvSpPr txBox="1"/>
          <p:nvPr/>
        </p:nvSpPr>
        <p:spPr>
          <a:xfrm>
            <a:off x="571500" y="3266182"/>
            <a:ext cx="19050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Middle-Aged</a:t>
            </a:r>
            <a:endParaRPr/>
          </a:p>
        </p:txBody>
      </p:sp>
      <p:sp>
        <p:nvSpPr>
          <p:cNvPr id="275" name="Google Shape;275;p22"/>
          <p:cNvSpPr txBox="1"/>
          <p:nvPr/>
        </p:nvSpPr>
        <p:spPr>
          <a:xfrm>
            <a:off x="571500" y="3837682"/>
            <a:ext cx="19050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Adult</a:t>
            </a:r>
            <a:endParaRPr/>
          </a:p>
        </p:txBody>
      </p:sp>
      <p:sp>
        <p:nvSpPr>
          <p:cNvPr id="276" name="Google Shape;276;p22"/>
          <p:cNvSpPr txBox="1"/>
          <p:nvPr/>
        </p:nvSpPr>
        <p:spPr>
          <a:xfrm>
            <a:off x="571500" y="4409182"/>
            <a:ext cx="19050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Senior</a:t>
            </a:r>
            <a:endParaRPr/>
          </a:p>
        </p:txBody>
      </p:sp>
      <p:sp>
        <p:nvSpPr>
          <p:cNvPr id="277" name="Google Shape;277;p22"/>
          <p:cNvSpPr txBox="1"/>
          <p:nvPr/>
        </p:nvSpPr>
        <p:spPr>
          <a:xfrm>
            <a:off x="762000" y="950862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22D3EE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REVENUE BY LIFE STAGE</a:t>
            </a:r>
            <a:endParaRPr/>
          </a:p>
        </p:txBody>
      </p:sp>
      <p:sp>
        <p:nvSpPr>
          <p:cNvPr id="278" name="Google Shape;278;p22"/>
          <p:cNvSpPr/>
          <p:nvPr/>
        </p:nvSpPr>
        <p:spPr>
          <a:xfrm>
            <a:off x="571500" y="950862"/>
            <a:ext cx="76200" cy="55245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23"/>
          <p:cNvSpPr txBox="1"/>
          <p:nvPr/>
        </p:nvSpPr>
        <p:spPr>
          <a:xfrm>
            <a:off x="571500" y="1413569"/>
            <a:ext cx="5200650" cy="11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22D3EE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POWER BI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600" b="0" i="0" u="none" strike="noStrike" cap="none">
                <a:solidFill>
                  <a:srgbClr val="22D3EE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INTERACTIVE UI</a:t>
            </a:r>
            <a:endParaRPr/>
          </a:p>
        </p:txBody>
      </p:sp>
      <p:sp>
        <p:nvSpPr>
          <p:cNvPr id="285" name="Google Shape;285;p23"/>
          <p:cNvSpPr txBox="1"/>
          <p:nvPr/>
        </p:nvSpPr>
        <p:spPr>
          <a:xfrm>
            <a:off x="571500" y="2804219"/>
            <a:ext cx="520065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E2E8F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Real-time Decision Support</a:t>
            </a:r>
            <a:endParaRPr/>
          </a:p>
        </p:txBody>
      </p:sp>
      <p:sp>
        <p:nvSpPr>
          <p:cNvPr id="286" name="Google Shape;286;p23"/>
          <p:cNvSpPr txBox="1"/>
          <p:nvPr/>
        </p:nvSpPr>
        <p:spPr>
          <a:xfrm>
            <a:off x="571500" y="3461444"/>
            <a:ext cx="4953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Integrated filters for subscription, gender, and category to allow business leaders to slice data instantly.</a:t>
            </a:r>
            <a:endParaRPr/>
          </a:p>
        </p:txBody>
      </p:sp>
      <p:pic>
        <p:nvPicPr>
          <p:cNvPr id="287" name="Google Shape;287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23"/>
          <p:cNvSpPr txBox="1"/>
          <p:nvPr/>
        </p:nvSpPr>
        <p:spPr>
          <a:xfrm>
            <a:off x="847725" y="4756844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89" name="Google Shape;289;p23"/>
          <p:cNvSpPr txBox="1"/>
          <p:nvPr/>
        </p:nvSpPr>
        <p:spPr>
          <a:xfrm>
            <a:off x="952500" y="4756844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Dynamic KPI cards for AOV and Ratings.</a:t>
            </a:r>
            <a:endParaRPr/>
          </a:p>
        </p:txBody>
      </p:sp>
      <p:sp>
        <p:nvSpPr>
          <p:cNvPr id="290" name="Google Shape;290;p23"/>
          <p:cNvSpPr txBox="1"/>
          <p:nvPr/>
        </p:nvSpPr>
        <p:spPr>
          <a:xfrm>
            <a:off x="847725" y="5061644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91" name="Google Shape;291;p23"/>
          <p:cNvSpPr txBox="1"/>
          <p:nvPr/>
        </p:nvSpPr>
        <p:spPr>
          <a:xfrm>
            <a:off x="952500" y="5061644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Geographic and Seasonal heatmaps.</a:t>
            </a:r>
            <a:endParaRPr/>
          </a:p>
        </p:txBody>
      </p:sp>
      <p:sp>
        <p:nvSpPr>
          <p:cNvPr id="292" name="Google Shape;292;p23"/>
          <p:cNvSpPr txBox="1"/>
          <p:nvPr/>
        </p:nvSpPr>
        <p:spPr>
          <a:xfrm>
            <a:off x="847725" y="5366444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93" name="Google Shape;293;p23"/>
          <p:cNvSpPr txBox="1"/>
          <p:nvPr/>
        </p:nvSpPr>
        <p:spPr>
          <a:xfrm>
            <a:off x="952500" y="5366444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Segment-level drill-down capabilities.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8" name="Google Shape;298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370832"/>
            <a:ext cx="5334000" cy="3333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2523232"/>
            <a:ext cx="5334000" cy="3028950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24"/>
          <p:cNvSpPr txBox="1"/>
          <p:nvPr/>
        </p:nvSpPr>
        <p:spPr>
          <a:xfrm>
            <a:off x="866775" y="2666107"/>
            <a:ext cx="4980622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000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22D3EE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Growth Levers</a:t>
            </a:r>
            <a:endParaRPr/>
          </a:p>
        </p:txBody>
      </p:sp>
      <p:sp>
        <p:nvSpPr>
          <p:cNvPr id="302" name="Google Shape;302;p24"/>
          <p:cNvSpPr txBox="1"/>
          <p:nvPr/>
        </p:nvSpPr>
        <p:spPr>
          <a:xfrm>
            <a:off x="6581775" y="2818507"/>
            <a:ext cx="4980622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337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A855F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Quick Wins</a:t>
            </a:r>
            <a:endParaRPr/>
          </a:p>
        </p:txBody>
      </p:sp>
      <p:pic>
        <p:nvPicPr>
          <p:cNvPr id="303" name="Google Shape;303;p2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66775" y="2694682"/>
            <a:ext cx="3048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24"/>
          <p:cNvSpPr txBox="1"/>
          <p:nvPr/>
        </p:nvSpPr>
        <p:spPr>
          <a:xfrm>
            <a:off x="866775" y="3142357"/>
            <a:ext cx="47434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🚀 </a:t>
            </a:r>
            <a:r>
              <a:rPr lang="en-US" sz="1500" b="1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Loyalty Transition: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Reward 'Returning' users with express shipping to convert to 'Loyal'.</a:t>
            </a:r>
            <a:endParaRPr/>
          </a:p>
        </p:txBody>
      </p:sp>
      <p:sp>
        <p:nvSpPr>
          <p:cNvPr id="305" name="Google Shape;305;p24"/>
          <p:cNvSpPr txBox="1"/>
          <p:nvPr/>
        </p:nvSpPr>
        <p:spPr>
          <a:xfrm>
            <a:off x="866775" y="3894832"/>
            <a:ext cx="47434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💸 </a:t>
            </a:r>
            <a:r>
              <a:rPr lang="en-US" sz="1500" b="1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Margin Control: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Reduce discount dependency on high-rated products (e.g., Gloves).</a:t>
            </a:r>
            <a:endParaRPr/>
          </a:p>
        </p:txBody>
      </p:sp>
      <p:sp>
        <p:nvSpPr>
          <p:cNvPr id="306" name="Google Shape;306;p24"/>
          <p:cNvSpPr txBox="1"/>
          <p:nvPr/>
        </p:nvSpPr>
        <p:spPr>
          <a:xfrm>
            <a:off x="866775" y="4647307"/>
            <a:ext cx="47434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🎯 </a:t>
            </a:r>
            <a:r>
              <a:rPr lang="en-US" sz="1500" b="1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Targeted Ads: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Focus high-CAC campaigns on the high-revenue Young Adult segment.</a:t>
            </a:r>
            <a:endParaRPr/>
          </a:p>
        </p:txBody>
      </p:sp>
      <p:pic>
        <p:nvPicPr>
          <p:cNvPr id="307" name="Google Shape;307;p2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581775" y="2847082"/>
            <a:ext cx="23812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24"/>
          <p:cNvSpPr txBox="1"/>
          <p:nvPr/>
        </p:nvSpPr>
        <p:spPr>
          <a:xfrm>
            <a:off x="6581775" y="3294757"/>
            <a:ext cx="47434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✅ Exclusive early-access sales for current subscribers.</a:t>
            </a:r>
            <a:endParaRPr/>
          </a:p>
        </p:txBody>
      </p:sp>
      <p:sp>
        <p:nvSpPr>
          <p:cNvPr id="309" name="Google Shape;309;p24"/>
          <p:cNvSpPr txBox="1"/>
          <p:nvPr/>
        </p:nvSpPr>
        <p:spPr>
          <a:xfrm>
            <a:off x="6581775" y="4047232"/>
            <a:ext cx="47434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✅ Bundled offers for low-frequency categories.</a:t>
            </a:r>
            <a:endParaRPr/>
          </a:p>
        </p:txBody>
      </p:sp>
      <p:sp>
        <p:nvSpPr>
          <p:cNvPr id="310" name="Google Shape;310;p24"/>
          <p:cNvSpPr txBox="1"/>
          <p:nvPr/>
        </p:nvSpPr>
        <p:spPr>
          <a:xfrm>
            <a:off x="6581775" y="4494907"/>
            <a:ext cx="47434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✅ Personalized email marketing based on previous category preference.</a:t>
            </a:r>
            <a:endParaRPr/>
          </a:p>
        </p:txBody>
      </p:sp>
      <p:sp>
        <p:nvSpPr>
          <p:cNvPr id="311" name="Google Shape;311;p24"/>
          <p:cNvSpPr txBox="1"/>
          <p:nvPr/>
        </p:nvSpPr>
        <p:spPr>
          <a:xfrm>
            <a:off x="762000" y="950862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22D3EE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STRATEGIC ROADMAP</a:t>
            </a:r>
            <a:endParaRPr/>
          </a:p>
        </p:txBody>
      </p:sp>
      <p:sp>
        <p:nvSpPr>
          <p:cNvPr id="312" name="Google Shape;312;p24"/>
          <p:cNvSpPr/>
          <p:nvPr/>
        </p:nvSpPr>
        <p:spPr>
          <a:xfrm>
            <a:off x="571500" y="950862"/>
            <a:ext cx="76200" cy="55245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" name="Google Shape;317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25"/>
          <p:cNvSpPr txBox="1"/>
          <p:nvPr/>
        </p:nvSpPr>
        <p:spPr>
          <a:xfrm>
            <a:off x="295275" y="2002184"/>
            <a:ext cx="116014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22D3EE"/>
                </a:solidFill>
                <a:latin typeface="Urbanist"/>
                <a:ea typeface="Urbanist"/>
                <a:cs typeface="Urbanist"/>
                <a:sym typeface="Urbanist"/>
              </a:rPr>
              <a:t>Thank You!</a:t>
            </a:r>
            <a:endParaRPr/>
          </a:p>
        </p:txBody>
      </p:sp>
      <p:sp>
        <p:nvSpPr>
          <p:cNvPr id="319" name="Google Shape;319;p25"/>
          <p:cNvSpPr txBox="1"/>
          <p:nvPr/>
        </p:nvSpPr>
        <p:spPr>
          <a:xfrm>
            <a:off x="3671887" y="3548955"/>
            <a:ext cx="4848225" cy="396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Full Stack Data Analytics Portfolio Project</a:t>
            </a:r>
            <a:endParaRPr/>
          </a:p>
        </p:txBody>
      </p:sp>
      <p:sp>
        <p:nvSpPr>
          <p:cNvPr id="320" name="Google Shape;320;p25"/>
          <p:cNvSpPr txBox="1"/>
          <p:nvPr/>
        </p:nvSpPr>
        <p:spPr>
          <a:xfrm>
            <a:off x="571500" y="4707135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QUESTIONS &amp; ANSWERS</a:t>
            </a:r>
            <a:endParaRPr/>
          </a:p>
        </p:txBody>
      </p:sp>
      <p:sp>
        <p:nvSpPr>
          <p:cNvPr id="321" name="Google Shape;321;p25"/>
          <p:cNvSpPr txBox="1"/>
          <p:nvPr/>
        </p:nvSpPr>
        <p:spPr>
          <a:xfrm>
            <a:off x="2705100" y="5297685"/>
            <a:ext cx="89154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github.com/vineet416  linkedin.com/in/analytics-pro</a:t>
            </a:r>
            <a:endParaRPr/>
          </a:p>
        </p:txBody>
      </p:sp>
      <p:pic>
        <p:nvPicPr>
          <p:cNvPr id="322" name="Google Shape;322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90962" y="5316735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" name="Google Shape;323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024562" y="5316735"/>
            <a:ext cx="133350" cy="15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8" name="Google Shape;328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26"/>
          <p:cNvSpPr/>
          <p:nvPr/>
        </p:nvSpPr>
        <p:spPr>
          <a:xfrm>
            <a:off x="571500" y="2865387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26"/>
          <p:cNvSpPr/>
          <p:nvPr/>
        </p:nvSpPr>
        <p:spPr>
          <a:xfrm>
            <a:off x="571500" y="3650158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26"/>
          <p:cNvSpPr/>
          <p:nvPr/>
        </p:nvSpPr>
        <p:spPr>
          <a:xfrm>
            <a:off x="571500" y="3640633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26"/>
          <p:cNvSpPr/>
          <p:nvPr/>
        </p:nvSpPr>
        <p:spPr>
          <a:xfrm>
            <a:off x="571500" y="3640633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26"/>
          <p:cNvSpPr/>
          <p:nvPr/>
        </p:nvSpPr>
        <p:spPr>
          <a:xfrm>
            <a:off x="571500" y="4425404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26"/>
          <p:cNvSpPr/>
          <p:nvPr/>
        </p:nvSpPr>
        <p:spPr>
          <a:xfrm>
            <a:off x="571500" y="4425404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5" name="Google Shape;335;p2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014811"/>
            <a:ext cx="1019175" cy="1066800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26"/>
          <p:cNvSpPr txBox="1"/>
          <p:nvPr/>
        </p:nvSpPr>
        <p:spPr>
          <a:xfrm>
            <a:off x="1666875" y="3008262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https://user-images.githubusercontent.com/17051931/48866619-0c7b8180-ed99-11e8-960b-95cb2d5c43e2.png</a:t>
            </a:r>
            <a:endParaRPr/>
          </a:p>
        </p:txBody>
      </p:sp>
      <p:sp>
        <p:nvSpPr>
          <p:cNvPr id="337" name="Google Shape;337;p26"/>
          <p:cNvSpPr txBox="1"/>
          <p:nvPr/>
        </p:nvSpPr>
        <p:spPr>
          <a:xfrm>
            <a:off x="1666875" y="3253978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github.com</a:t>
            </a:r>
            <a:endParaRPr/>
          </a:p>
        </p:txBody>
      </p:sp>
      <p:pic>
        <p:nvPicPr>
          <p:cNvPr id="338" name="Google Shape;338;p2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79958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26"/>
          <p:cNvSpPr txBox="1"/>
          <p:nvPr/>
        </p:nvSpPr>
        <p:spPr>
          <a:xfrm>
            <a:off x="1666875" y="3793033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https://static.vecteezy.com/system/resources/previews/052/771/156/non_2x/glowing-neon-database-icon-illustrating-data-storage-concept-vector.jpg</a:t>
            </a:r>
            <a:endParaRPr/>
          </a:p>
        </p:txBody>
      </p:sp>
      <p:sp>
        <p:nvSpPr>
          <p:cNvPr id="340" name="Google Shape;340;p26"/>
          <p:cNvSpPr txBox="1"/>
          <p:nvPr/>
        </p:nvSpPr>
        <p:spPr>
          <a:xfrm>
            <a:off x="1666875" y="4038748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www.vecteezy.com</a:t>
            </a:r>
            <a:endParaRPr/>
          </a:p>
        </p:txBody>
      </p:sp>
      <p:pic>
        <p:nvPicPr>
          <p:cNvPr id="341" name="Google Shape;341;p2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58435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26"/>
          <p:cNvSpPr txBox="1"/>
          <p:nvPr/>
        </p:nvSpPr>
        <p:spPr>
          <a:xfrm>
            <a:off x="1666875" y="4577804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https://www.rib-software.com/app/uploads/2024/06/dashboard-design-principles-blog-rib.webp</a:t>
            </a:r>
            <a:endParaRPr/>
          </a:p>
        </p:txBody>
      </p:sp>
      <p:sp>
        <p:nvSpPr>
          <p:cNvPr id="343" name="Google Shape;343;p26"/>
          <p:cNvSpPr txBox="1"/>
          <p:nvPr/>
        </p:nvSpPr>
        <p:spPr>
          <a:xfrm>
            <a:off x="1666875" y="4823519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www.rib-software.com</a:t>
            </a:r>
            <a:endParaRPr/>
          </a:p>
        </p:txBody>
      </p:sp>
      <p:sp>
        <p:nvSpPr>
          <p:cNvPr id="344" name="Google Shape;344;p26"/>
          <p:cNvSpPr txBox="1"/>
          <p:nvPr/>
        </p:nvSpPr>
        <p:spPr>
          <a:xfrm>
            <a:off x="762000" y="950862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22D3EE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IMAGE SOURCES</a:t>
            </a:r>
            <a:endParaRPr/>
          </a:p>
        </p:txBody>
      </p:sp>
      <p:sp>
        <p:nvSpPr>
          <p:cNvPr id="345" name="Google Shape;345;p26"/>
          <p:cNvSpPr/>
          <p:nvPr/>
        </p:nvSpPr>
        <p:spPr>
          <a:xfrm>
            <a:off x="571500" y="950862"/>
            <a:ext cx="76200" cy="55245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614</Words>
  <Application>Microsoft Office PowerPoint</Application>
  <PresentationFormat>Widescreen</PresentationFormat>
  <Paragraphs>109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Calibri</vt:lpstr>
      <vt:lpstr>Inter</vt:lpstr>
      <vt:lpstr>Inter SemiBold</vt:lpstr>
      <vt:lpstr>Urbanist</vt:lpstr>
      <vt:lpstr>Arial</vt:lpstr>
      <vt:lpstr>Urbanist SemiBold</vt:lpstr>
      <vt:lpstr>Urbanist ExtraBold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PRERNA</dc:creator>
  <cp:lastModifiedBy>prerna rexha</cp:lastModifiedBy>
  <cp:revision>1</cp:revision>
  <dcterms:modified xsi:type="dcterms:W3CDTF">2026-05-23T15:06:19Z</dcterms:modified>
</cp:coreProperties>
</file>